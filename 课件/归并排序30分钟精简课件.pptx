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3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二、核心思想：分治法（5分钟）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 and Conquer（三步走）：</a:t>
            </a:r>
          </a:p>
          <a:p>
            <a:r>
              <a:t>1. Divide：分成两半。</a:t>
            </a:r>
          </a:p>
          <a:p>
            <a:r>
              <a:t>2. Conquer：递归排序左右两半。</a:t>
            </a:r>
          </a:p>
          <a:p>
            <a:r>
              <a:t>3. Combine：将两半合并为一个有序序列。</a:t>
            </a:r>
          </a:p>
          <a:p>
            <a:endParaRPr/>
          </a:p>
          <a:p>
            <a:r>
              <a:t>类比：把一副牌分成两堆分别整理，再合并。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三、算法流程（7分钟）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高层伪代码：</a:t>
            </a:r>
          </a:p>
          <a:p>
            <a:r>
              <a:t>MergeSort(A[l..r]):</a:t>
            </a:r>
          </a:p>
          <a:p>
            <a:r>
              <a:t>  if r-l &lt;= 1: return</a:t>
            </a:r>
          </a:p>
          <a:p>
            <a:r>
              <a:t>  mid = (l+r)/2</a:t>
            </a:r>
          </a:p>
          <a:p>
            <a:r>
              <a:t>  MergeSort(A[l..mid])</a:t>
            </a:r>
          </a:p>
          <a:p>
            <a:r>
              <a:t>  MergeSort(A[mid..r])</a:t>
            </a:r>
          </a:p>
          <a:p>
            <a:r>
              <a:t>  Merge(A[l..mid], A[mid..r])</a:t>
            </a:r>
          </a:p>
          <a:p>
            <a:endParaRPr/>
          </a:p>
          <a:p>
            <a:r>
              <a:t>示例：[8,3,5,4,7,6,1,2]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四、复杂度分析（5分钟）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每层合并需</a:t>
            </a:r>
            <a:r>
              <a:rPr dirty="0"/>
              <a:t> O(n) </a:t>
            </a:r>
            <a:r>
              <a:rPr dirty="0" err="1"/>
              <a:t>时间，共</a:t>
            </a:r>
            <a:r>
              <a:rPr dirty="0"/>
              <a:t> </a:t>
            </a:r>
            <a:r>
              <a:rPr dirty="0" err="1"/>
              <a:t>log₂n</a:t>
            </a:r>
            <a:r>
              <a:rPr dirty="0"/>
              <a:t> 层。</a:t>
            </a:r>
          </a:p>
          <a:p>
            <a:r>
              <a:rPr dirty="0" err="1"/>
              <a:t>时间复杂度：O</a:t>
            </a:r>
            <a:r>
              <a:rPr dirty="0"/>
              <a:t>(n log n)</a:t>
            </a:r>
          </a:p>
          <a:p>
            <a:r>
              <a:rPr dirty="0" err="1"/>
              <a:t>空间复杂度：O</a:t>
            </a:r>
            <a:r>
              <a:rPr dirty="0"/>
              <a:t>(n)</a:t>
            </a:r>
          </a:p>
          <a:p>
            <a:r>
              <a:rPr dirty="0" err="1"/>
              <a:t>稳定性：相等时优先左侧元素</a:t>
            </a:r>
            <a:r>
              <a:rPr dirty="0"/>
              <a:t>。</a:t>
            </a:r>
          </a:p>
          <a:p>
            <a:r>
              <a:rPr dirty="0" err="1"/>
              <a:t>结论：稳定、性能可预测，但需额外空间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五、代码示例（7分钟）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int main() {</a:t>
            </a:r>
          </a:p>
          <a:p>
            <a:r>
              <a:rPr lang="en-US" altLang="zh-CN" dirty="0"/>
              <a:t>    vector&lt;int&gt; a = {8,3,5,4,7,6,1,2};</a:t>
            </a:r>
          </a:p>
          <a:p>
            <a:r>
              <a:rPr lang="en-US" altLang="zh-CN" dirty="0"/>
              <a:t>    vector&lt;int&gt; </a:t>
            </a:r>
            <a:r>
              <a:rPr lang="en-US" altLang="zh-CN" dirty="0" err="1"/>
              <a:t>buf</a:t>
            </a:r>
            <a:r>
              <a:rPr lang="en-US" altLang="zh-CN" dirty="0"/>
              <a:t>(</a:t>
            </a:r>
            <a:r>
              <a:rPr lang="en-US" altLang="zh-CN" dirty="0" err="1"/>
              <a:t>a.size</a:t>
            </a:r>
            <a:r>
              <a:rPr lang="en-US" altLang="zh-CN" dirty="0"/>
              <a:t>());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mergesort</a:t>
            </a:r>
            <a:r>
              <a:rPr lang="en-US" altLang="zh-CN" dirty="0"/>
              <a:t>(a, 0, (int)</a:t>
            </a:r>
            <a:r>
              <a:rPr lang="en-US" altLang="zh-CN" dirty="0" err="1"/>
              <a:t>a.size</a:t>
            </a:r>
            <a:r>
              <a:rPr lang="en-US" altLang="zh-CN" dirty="0"/>
              <a:t>(), </a:t>
            </a:r>
            <a:r>
              <a:rPr lang="en-US" altLang="zh-CN" dirty="0" err="1"/>
              <a:t>buf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for (int x : a) </a:t>
            </a:r>
            <a:r>
              <a:rPr lang="en-US" altLang="zh-CN" dirty="0" err="1"/>
              <a:t>cout</a:t>
            </a:r>
            <a:r>
              <a:rPr lang="en-US" altLang="zh-CN" dirty="0"/>
              <a:t> &lt;&lt; x &lt;&lt; ' ';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094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五、代码示例（7分钟）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合并区间 </a:t>
            </a:r>
            <a:r>
              <a:rPr lang="en-US" altLang="zh-CN" dirty="0"/>
              <a:t>[</a:t>
            </a:r>
            <a:r>
              <a:rPr lang="en-US" dirty="0"/>
              <a:t>l, m) </a:t>
            </a:r>
            <a:r>
              <a:rPr lang="zh-CN" altLang="en-US" dirty="0"/>
              <a:t>与 </a:t>
            </a:r>
            <a:r>
              <a:rPr lang="en-US" altLang="zh-CN" dirty="0"/>
              <a:t>[</a:t>
            </a:r>
            <a:r>
              <a:rPr lang="en-US" dirty="0"/>
              <a:t>m, r)</a:t>
            </a:r>
          </a:p>
          <a:p>
            <a:r>
              <a:rPr lang="en-US" dirty="0"/>
              <a:t>static void </a:t>
            </a:r>
            <a:r>
              <a:rPr lang="en-US" dirty="0" err="1"/>
              <a:t>merge_range</a:t>
            </a:r>
            <a:r>
              <a:rPr lang="en-US" dirty="0"/>
              <a:t>(vector&lt;int&gt;&amp; a, int l, int m, int r, vector&lt;int&gt;&amp; </a:t>
            </a:r>
            <a:r>
              <a:rPr lang="en-US" dirty="0" err="1"/>
              <a:t>buf</a:t>
            </a:r>
            <a:r>
              <a:rPr lang="en-US" dirty="0"/>
              <a:t>) {</a:t>
            </a:r>
          </a:p>
          <a:p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l, j = m, k = 0;</a:t>
            </a:r>
          </a:p>
          <a:p>
            <a:r>
              <a:rPr lang="en-US" dirty="0"/>
              <a:t>    while (</a:t>
            </a:r>
            <a:r>
              <a:rPr lang="en-US" dirty="0" err="1"/>
              <a:t>i</a:t>
            </a:r>
            <a:r>
              <a:rPr lang="en-US" dirty="0"/>
              <a:t> &lt; m &amp;&amp; j &lt; r) {</a:t>
            </a:r>
          </a:p>
          <a:p>
            <a:r>
              <a:rPr lang="en-US" dirty="0"/>
              <a:t>        if (a[</a:t>
            </a:r>
            <a:r>
              <a:rPr lang="en-US" dirty="0" err="1"/>
              <a:t>i</a:t>
            </a:r>
            <a:r>
              <a:rPr lang="en-US" dirty="0"/>
              <a:t>] &lt;= a[j]) </a:t>
            </a:r>
            <a:r>
              <a:rPr lang="en-US" dirty="0" err="1"/>
              <a:t>buf</a:t>
            </a:r>
            <a:r>
              <a:rPr lang="en-US" dirty="0"/>
              <a:t>[k++] = a[</a:t>
            </a:r>
            <a:r>
              <a:rPr lang="en-US" dirty="0" err="1"/>
              <a:t>i</a:t>
            </a:r>
            <a:r>
              <a:rPr lang="en-US" dirty="0"/>
              <a:t>++];   // </a:t>
            </a:r>
            <a:r>
              <a:rPr lang="zh-CN" altLang="en-US" dirty="0"/>
              <a:t>稳定：相等时取左段</a:t>
            </a:r>
          </a:p>
          <a:p>
            <a:r>
              <a:rPr lang="zh-CN" altLang="en-US" dirty="0"/>
              <a:t>        </a:t>
            </a:r>
            <a:r>
              <a:rPr lang="en-US" dirty="0"/>
              <a:t>else              </a:t>
            </a:r>
            <a:r>
              <a:rPr lang="en-US" dirty="0" err="1"/>
              <a:t>buf</a:t>
            </a:r>
            <a:r>
              <a:rPr lang="en-US" dirty="0"/>
              <a:t>[k++] = a[</a:t>
            </a:r>
            <a:r>
              <a:rPr lang="en-US" dirty="0" err="1"/>
              <a:t>j++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while (</a:t>
            </a:r>
            <a:r>
              <a:rPr lang="en-US" dirty="0" err="1"/>
              <a:t>i</a:t>
            </a:r>
            <a:r>
              <a:rPr lang="en-US" dirty="0"/>
              <a:t> &lt; m) </a:t>
            </a:r>
            <a:r>
              <a:rPr lang="en-US" dirty="0" err="1"/>
              <a:t>buf</a:t>
            </a:r>
            <a:r>
              <a:rPr lang="en-US" dirty="0"/>
              <a:t>[k++] = a[</a:t>
            </a:r>
            <a:r>
              <a:rPr lang="en-US" dirty="0" err="1"/>
              <a:t>i</a:t>
            </a:r>
            <a:r>
              <a:rPr lang="en-US" dirty="0"/>
              <a:t>++];</a:t>
            </a:r>
          </a:p>
          <a:p>
            <a:r>
              <a:rPr lang="en-US" dirty="0"/>
              <a:t>    while (j &lt; r) </a:t>
            </a:r>
            <a:r>
              <a:rPr lang="en-US" dirty="0" err="1"/>
              <a:t>buf</a:t>
            </a:r>
            <a:r>
              <a:rPr lang="en-US" dirty="0"/>
              <a:t>[k++] = a[</a:t>
            </a:r>
            <a:r>
              <a:rPr lang="en-US" dirty="0" err="1"/>
              <a:t>j++</a:t>
            </a:r>
            <a:r>
              <a:rPr lang="en-US" dirty="0"/>
              <a:t>];</a:t>
            </a:r>
          </a:p>
          <a:p>
            <a:r>
              <a:rPr lang="en-US" dirty="0"/>
              <a:t>    for (int t = 0; t &lt; k; ++t) a[l + t] = </a:t>
            </a:r>
            <a:r>
              <a:rPr lang="en-US" dirty="0" err="1"/>
              <a:t>buf</a:t>
            </a:r>
            <a:r>
              <a:rPr lang="en-US" dirty="0"/>
              <a:t>[t];</a:t>
            </a:r>
          </a:p>
          <a:p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五、代码示例（7分钟）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// </a:t>
            </a:r>
            <a:r>
              <a:rPr lang="zh-CN" altLang="en-US" dirty="0"/>
              <a:t>递归归并排序 </a:t>
            </a:r>
            <a:r>
              <a:rPr lang="en-US" altLang="zh-CN" dirty="0"/>
              <a:t>[l, r)</a:t>
            </a:r>
          </a:p>
          <a:p>
            <a:r>
              <a:rPr lang="en-US" altLang="zh-CN" dirty="0"/>
              <a:t>static void </a:t>
            </a:r>
            <a:r>
              <a:rPr lang="en-US" altLang="zh-CN" dirty="0" err="1"/>
              <a:t>mergesort</a:t>
            </a:r>
            <a:r>
              <a:rPr lang="en-US" altLang="zh-CN" dirty="0"/>
              <a:t>(vector&lt;int&gt;&amp; a, int l, int r, vector&lt;int&gt;&amp; </a:t>
            </a:r>
            <a:r>
              <a:rPr lang="en-US" altLang="zh-CN" dirty="0" err="1"/>
              <a:t>buf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    if (r - l &lt;= 1) return;</a:t>
            </a:r>
          </a:p>
          <a:p>
            <a:r>
              <a:rPr lang="en-US" altLang="zh-CN" dirty="0"/>
              <a:t>    int m = l + (r - l) / 2;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mergesort</a:t>
            </a:r>
            <a:r>
              <a:rPr lang="en-US" altLang="zh-CN" dirty="0"/>
              <a:t>(a, l, m, </a:t>
            </a:r>
            <a:r>
              <a:rPr lang="en-US" altLang="zh-CN" dirty="0" err="1"/>
              <a:t>buf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mergesort</a:t>
            </a:r>
            <a:r>
              <a:rPr lang="en-US" altLang="zh-CN" dirty="0"/>
              <a:t>(a, m, r, </a:t>
            </a:r>
            <a:r>
              <a:rPr lang="en-US" altLang="zh-CN" dirty="0" err="1"/>
              <a:t>buf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小优化：若两段已整体有序则跳过合并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if (a[m - 1] &lt;= a[m]) return;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merge_range</a:t>
            </a:r>
            <a:r>
              <a:rPr lang="en-US" altLang="zh-CN" dirty="0"/>
              <a:t>(a, l, m, r, </a:t>
            </a:r>
            <a:r>
              <a:rPr lang="en-US" altLang="zh-CN" dirty="0" err="1"/>
              <a:t>buf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008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530</Words>
  <Application>Microsoft Office PowerPoint</Application>
  <PresentationFormat>全屏显示(4:3)</PresentationFormat>
  <Paragraphs>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二、核心思想：分治法（5分钟）</vt:lpstr>
      <vt:lpstr>三、算法流程（7分钟）</vt:lpstr>
      <vt:lpstr>四、复杂度分析（5分钟）</vt:lpstr>
      <vt:lpstr>五、代码示例（7分钟）</vt:lpstr>
      <vt:lpstr>五、代码示例（7分钟）</vt:lpstr>
      <vt:lpstr>五、代码示例（7分钟）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nianhao zhang</cp:lastModifiedBy>
  <cp:revision>2</cp:revision>
  <dcterms:created xsi:type="dcterms:W3CDTF">2013-01-27T09:14:16Z</dcterms:created>
  <dcterms:modified xsi:type="dcterms:W3CDTF">2025-11-02T00:14:07Z</dcterms:modified>
  <cp:category/>
</cp:coreProperties>
</file>